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60" r:id="rId8"/>
    <p:sldId id="259" r:id="rId9"/>
    <p:sldId id="267" r:id="rId10"/>
    <p:sldId id="264" r:id="rId11"/>
    <p:sldId id="268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8AEE"/>
    <a:srgbClr val="774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189" autoAdjust="0"/>
  </p:normalViewPr>
  <p:slideViewPr>
    <p:cSldViewPr snapToGrid="0" snapToObjects="1">
      <p:cViewPr varScale="1">
        <p:scale>
          <a:sx n="148" d="100"/>
          <a:sy n="148" d="100"/>
        </p:scale>
        <p:origin x="27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640080" cy="256032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</a:rPr>
              <a:t>1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S&amp;P 500 Market-Neutral Multi-Factor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S&amp;P 500  ·  2011–2024  ·  Monthly Rebalancing  ·  Value / Size / Momentum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16459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29866" y="1664208"/>
            <a:ext cx="3945712" cy="2560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 PROBLEM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4160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a classical 3-factor signal (Value, Size, Momentum) still produce usable alpha in the S&amp;P 500 once we impose PIT discipline, full market-neutral portfolio construction, and realistic trading costs?</a:t>
            </a:r>
            <a:endParaRPr lang="en-US" sz="1300" b="1" dirty="0"/>
          </a:p>
        </p:txBody>
      </p:sp>
      <p:sp>
        <p:nvSpPr>
          <p:cNvPr id="10" name="Text 8"/>
          <p:cNvSpPr/>
          <p:nvPr/>
        </p:nvSpPr>
        <p:spPr>
          <a:xfrm>
            <a:off x="336499" y="3027302"/>
            <a:ext cx="4160520" cy="15556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Aft>
                <a:spcPts val="500"/>
              </a:spcAft>
              <a:buSzPct val="100000"/>
            </a:pPr>
            <a:r>
              <a:rPr lang="en-US" sz="1150" b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pipeline: </a:t>
            </a:r>
            <a:endParaRPr lang="en-US" sz="1150" b="1" dirty="0">
              <a:solidFill>
                <a:srgbClr val="9BAFC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en-US" sz="1150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 data </a:t>
            </a:r>
            <a:r>
              <a:rPr lang="en-US" altLang="zh-CN" sz="1150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150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factor returns → FRP weighting → PCA risk model → convex optimizer→ FF5 Attribution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constraints: </a:t>
            </a:r>
            <a:endParaRPr lang="en-US" sz="1150" b="1" dirty="0">
              <a:solidFill>
                <a:srgbClr val="9BAFC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beta-neutral, dollar-neutral, leverage ≤ 2.5×, sector-neutral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Survivorship-bias-free, look-ahead prevention (PIT)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16459" cy="31089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664208"/>
            <a:ext cx="4114800" cy="2560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 anchor="ctr"/>
          <a:lstStyle/>
          <a:p>
            <a:r>
              <a:rPr lang="en-US" sz="900" b="1" kern="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RESULTS  </a:t>
            </a:r>
            <a:r>
              <a:rPr lang="en-US" sz="900" b="1" kern="0" spc="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Full-Constraint Portfolio</a:t>
            </a:r>
            <a:endParaRPr lang="en-US" sz="900" b="1" kern="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1938528" cy="107899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148" cy="1078992"/>
          </a:xfrm>
          <a:prstGeom prst="rect">
            <a:avLst/>
          </a:prstGeom>
          <a:solidFill>
            <a:srgbClr val="4FC38A"/>
          </a:solidFill>
          <a:ln w="12700">
            <a:solidFill>
              <a:srgbClr val="4FC3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Ann. Return</a:t>
            </a:r>
            <a:endParaRPr lang="en-US" sz="900" b="1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+7.53%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2816352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+9.52%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84848" y="2011680"/>
            <a:ext cx="1938528" cy="107899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784848" y="2011680"/>
            <a:ext cx="41148" cy="1078992"/>
          </a:xfrm>
          <a:prstGeom prst="rect">
            <a:avLst/>
          </a:prstGeom>
          <a:solidFill>
            <a:srgbClr val="4FA8E0"/>
          </a:solidFill>
          <a:ln w="12700">
            <a:solidFill>
              <a:srgbClr val="4FA8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76288" y="210312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Ann. Volatility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6876288" y="230428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13.99%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2816352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18.22% baseline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1938528" cy="107899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41148" cy="1078992"/>
          </a:xfrm>
          <a:prstGeom prst="rect">
            <a:avLst/>
          </a:prstGeom>
          <a:solidFill>
            <a:srgbClr val="A78AEE"/>
          </a:solidFill>
          <a:ln w="12700">
            <a:solidFill>
              <a:srgbClr val="A78A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Sharpe Ratio</a:t>
            </a:r>
            <a:endParaRPr lang="en-US" sz="900" b="1" dirty="0"/>
          </a:p>
        </p:txBody>
      </p:sp>
      <p:sp>
        <p:nvSpPr>
          <p:cNvPr id="26" name="Text 24"/>
          <p:cNvSpPr/>
          <p:nvPr/>
        </p:nvSpPr>
        <p:spPr>
          <a:xfrm>
            <a:off x="4846320" y="349300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846320" y="4005072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0.63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3200400"/>
            <a:ext cx="1938528" cy="107899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84848" y="3200400"/>
            <a:ext cx="41148" cy="10789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76288" y="329184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Drawdown</a:t>
            </a:r>
            <a:endParaRPr lang="en-US" sz="900" b="1" dirty="0"/>
          </a:p>
        </p:txBody>
      </p:sp>
      <p:sp>
        <p:nvSpPr>
          <p:cNvPr id="31" name="Text 29"/>
          <p:cNvSpPr/>
          <p:nvPr/>
        </p:nvSpPr>
        <p:spPr>
          <a:xfrm>
            <a:off x="6876288" y="349300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−23.2%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876288" y="4005072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−25.5% baseline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86682" y="4919472"/>
            <a:ext cx="8570635" cy="2240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Period 2011-12 → 2024-12 (157 months) | Monthly rebalance | Costs included in “Net”|  Cost model: 5 bp commission + 5 bp impact (one-way) + 50 bp annualized borrow on short exposure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"/>
            <a:ext cx="6400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530225"/>
            <a:ext cx="76073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Four-phase pipeline: </a:t>
            </a:r>
            <a:r>
              <a:rPr lang="en-US" altLang="zh-CN" sz="11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&amp;PIT </a:t>
            </a:r>
            <a:r>
              <a:rPr lang="en-US" sz="11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→ </a:t>
            </a:r>
            <a:r>
              <a:rPr lang="en-US" sz="11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generation → portfolio construction → performance attribution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78464" y="1110621"/>
            <a:ext cx="199339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8464" y="1110621"/>
            <a:ext cx="1993392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968936" y="1147197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b="1" dirty="0">
              <a:solidFill>
                <a:srgbClr val="FFFFFF">
                  <a:alpha val="25000"/>
                </a:srgb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8192" y="1174629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8192" y="1348365"/>
            <a:ext cx="17922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 Pipeline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" y="1805565"/>
            <a:ext cx="1886640" cy="19193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871 ever-in-SP500 names 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CRSP/CCM + </a:t>
            </a:r>
            <a:r>
              <a:rPr lang="en-US" sz="11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Compustat</a:t>
            </a: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 delay and </a:t>
            </a:r>
            <a:r>
              <a:rPr lang="en-US" altLang="zh-CN" sz="11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assert</a:t>
            </a:r>
            <a:r>
              <a:rPr lang="en-US" sz="11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CRSP</a:t>
            </a: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price + COMPUSTAT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survivorship: keep pre-entry &amp; post-exit history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9904" y="3762381"/>
            <a:ext cx="1810512" cy="594360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73408" y="3798957"/>
            <a:ext cx="640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5624" y="3881253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returns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PIT signals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2712" y="2550801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2599872" y="1110621"/>
            <a:ext cx="199339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599872" y="1110621"/>
            <a:ext cx="1993392" cy="65836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090344" y="1147197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b="1" dirty="0">
              <a:solidFill>
                <a:srgbClr val="FFFFFF">
                  <a:alpha val="25000"/>
                </a:srgb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09600" y="1174629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09600" y="1348365"/>
            <a:ext cx="17922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Signals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 Risk Parity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63879" y="1768783"/>
            <a:ext cx="1902165" cy="1755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/ Size / Momentum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100" dirty="0"/>
              <a:t>Cross-sec regression </a:t>
            </a:r>
            <a:endParaRPr lang="en-US" altLang="zh-CN" sz="1100" dirty="0"/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factor returns  f̃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FRP:</a:t>
            </a:r>
            <a:r>
              <a:rPr lang="en-US" altLang="zh-CN" sz="1100" dirty="0"/>
              <a:t> PCA-orthogonalize</a:t>
            </a:r>
            <a:r>
              <a:rPr lang="en-US" altLang="zh-CN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weights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91312" y="3762381"/>
            <a:ext cx="1810512" cy="594360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276528" y="3798957"/>
            <a:ext cx="640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27888" y="3894969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A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returns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145A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μ(i,t)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84120" y="2550801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4721280" y="1110621"/>
            <a:ext cx="199339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21280" y="1110621"/>
            <a:ext cx="1993392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211752" y="1147197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b="1" dirty="0">
              <a:solidFill>
                <a:srgbClr val="FFFFFF">
                  <a:alpha val="25000"/>
                </a:srgb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31008" y="1174629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31008" y="1348365"/>
            <a:ext cx="17922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Model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7643" y="1768783"/>
            <a:ext cx="1920666" cy="17556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~55 names → EWMA daily </a:t>
            </a:r>
            <a:r>
              <a:rPr lang="en-US" sz="11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</a:t>
            </a: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</a:t>
            </a:r>
            <a:r>
              <a:rPr lang="en-US" sz="11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</a:t>
            </a: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-PCA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 all stocks on PCs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Convex optimizer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Dollar-neutral / </a:t>
            </a:r>
            <a:r>
              <a:rPr lang="en-US" altLang="zh-CN" sz="1100" dirty="0"/>
              <a:t>Hard </a:t>
            </a:r>
            <a:r>
              <a:rPr lang="el-GR" altLang="zh-CN" sz="1100" dirty="0"/>
              <a:t>β / </a:t>
            </a:r>
            <a:r>
              <a:rPr lang="en-US" altLang="zh-CN" sz="1100" dirty="0"/>
              <a:t>leverage / sector-neutral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12720" y="3762381"/>
            <a:ext cx="1810512" cy="594360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416224" y="3813588"/>
            <a:ext cx="640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67584" y="3896799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 weights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w*(t)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99432" y="2550801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3200" dirty="0"/>
          </a:p>
        </p:txBody>
      </p:sp>
      <p:sp>
        <p:nvSpPr>
          <p:cNvPr id="39" name="Shape 37"/>
          <p:cNvSpPr/>
          <p:nvPr/>
        </p:nvSpPr>
        <p:spPr>
          <a:xfrm>
            <a:off x="6842688" y="1110621"/>
            <a:ext cx="199339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842688" y="1110621"/>
            <a:ext cx="1993392" cy="65836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333160" y="1147197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b="1" dirty="0">
              <a:solidFill>
                <a:srgbClr val="FFFFFF">
                  <a:alpha val="25000"/>
                </a:srgb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952416" y="1174629"/>
            <a:ext cx="17922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52416" y="1348365"/>
            <a:ext cx="1792224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Backtest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884473" y="1788191"/>
            <a:ext cx="1898976" cy="194675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 </a:t>
            </a:r>
            <a:r>
              <a:rPr lang="en-US" sz="11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backtest</a:t>
            </a: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10bp + 50bp cost model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Attribution diagnostics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A/B: Full-Constraint vs </a:t>
            </a:r>
            <a:r>
              <a:rPr lang="en-US" altLang="zh-CN" sz="1100" dirty="0"/>
              <a:t>Preliminary</a:t>
            </a:r>
            <a:endParaRPr lang="en-US" sz="11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934128" y="3762381"/>
            <a:ext cx="1810512" cy="594360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 dirty="0"/>
          </a:p>
        </p:txBody>
      </p:sp>
      <p:sp>
        <p:nvSpPr>
          <p:cNvPr id="46" name="Text 44"/>
          <p:cNvSpPr/>
          <p:nvPr/>
        </p:nvSpPr>
        <p:spPr>
          <a:xfrm>
            <a:off x="7519344" y="3789813"/>
            <a:ext cx="640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70704" y="3917829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Sharpe 0.50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FF5 α = +7.55%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31140"/>
            <a:ext cx="7315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Pipeline  &amp;  Anti Look-Ahead (PIT Discipline)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OUTPUT ARTEFACTS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0040" y="1170432"/>
            <a:ext cx="54864" cy="80467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225296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Panel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sp500_price_panel_with_delist.csv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5727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871 ever-in-SP500 names · 2,934,733 daily rows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2008-01-02 to 2024-12-31 ·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ret_adj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dynamic in_sp500 flag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66544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54864" cy="80467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121408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 Fundamentals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313432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sp500_fundq_pit_rebuilt_nodvmt.csv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53,985 firm-quarter rows · 866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gvkeys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pit_date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uses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rdq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≥45d from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2962656"/>
            <a:ext cx="54864" cy="80467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Returns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209544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sp500_monthly_returns.csv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36499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140,070 rows · 871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permnos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2008-01 to 2024-12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Compounded from daily delisting-adjusted returns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3858768"/>
            <a:ext cx="54864" cy="80467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913632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Signals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05656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sp500_monthly_signals_rebuilt_nodvmt.csv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261104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115,962 rows · 822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permnos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/ Size / Momentum · intra-sector robust Z-scores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98848" y="841248"/>
            <a:ext cx="16459" cy="39776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896112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THREE-LAYER ANTI LOOK-AHEAD CONTROL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0016" y="1170432"/>
            <a:ext cx="416052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754880" y="1216152"/>
            <a:ext cx="384048" cy="38404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60214" y="12161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75504" y="1252728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 Availability Rule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193792" y="1490472"/>
            <a:ext cx="404164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 enter the signal panel only after they are point-in-time available: </a:t>
            </a:r>
            <a:r>
              <a:rPr lang="en-US" sz="95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pit_date</a:t>
            </a: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max(</a:t>
            </a:r>
            <a:r>
              <a:rPr lang="en-US" sz="95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rdq</a:t>
            </a: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+ 1, </a:t>
            </a:r>
            <a:r>
              <a:rPr lang="en-US" sz="95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datadate</a:t>
            </a: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+ 45d), </a:t>
            </a:r>
            <a:endParaRPr lang="en-US" sz="95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an observed lag of at least 45 days and a 45-day median.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0016" y="2331720"/>
            <a:ext cx="4123944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750308" y="2377440"/>
            <a:ext cx="384048" cy="38404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750308" y="2377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240487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Backward As-Of Merge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85867" y="2639187"/>
            <a:ext cx="3639312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backward </a:t>
            </a:r>
            <a:r>
              <a:rPr lang="en-US" sz="95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merge_asof</a:t>
            </a: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enforces </a:t>
            </a:r>
            <a:r>
              <a:rPr lang="en-US" sz="95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pit_date</a:t>
            </a: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≤ month-end at merge time, so future filings are excluded by construction rather than by assumption.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0016" y="3465576"/>
            <a:ext cx="412394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754880" y="3518154"/>
            <a:ext cx="384048" cy="384048"/>
          </a:xfrm>
          <a:prstGeom prst="ellipse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754880" y="351815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75504" y="3557016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Assertion &amp; QC Layer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181600" y="3767328"/>
            <a:ext cx="3547872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pipeline uses assertion-based quality checks on timestamp ordering, merge validity, and row uniqueness, and fails loudly if any leakage or duplicate-row anomaly is detected.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0016" y="4617720"/>
            <a:ext cx="4123944" cy="320040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631944" y="4612640"/>
            <a:ext cx="4235501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survivorship bias: </a:t>
            </a:r>
            <a:endParaRPr lang="en-US" sz="850" b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history retained for all ever-in-SP500 names, including pre-entry and post-exit periods.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24028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Engineering  →  FRP  →  Expected Returns  μ(i,t)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5112" y="1096140"/>
            <a:ext cx="19933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15112" y="1096140"/>
            <a:ext cx="1993392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959864" y="113271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4840" y="1160148"/>
            <a:ext cx="181051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>
                    <a:alpha val="6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2.1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4840" y="1333884"/>
            <a:ext cx="179222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 Exposures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9976" y="1845948"/>
            <a:ext cx="1883664" cy="2587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200000"/>
              </a:lnSpc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 = 0.67 · EY</a:t>
            </a:r>
            <a:r>
              <a:rPr lang="en-US" sz="1050" baseline="-400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+  0.33 · PB</a:t>
            </a:r>
            <a:r>
              <a:rPr lang="en-US" sz="1050" baseline="-400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endParaRPr lang="en-US" sz="1050" dirty="0"/>
          </a:p>
          <a:p>
            <a:pPr>
              <a:lnSpc>
                <a:spcPct val="200000"/>
              </a:lnSpc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 = − mktcap</a:t>
            </a:r>
            <a:r>
              <a:rPr lang="en-US" sz="1050" baseline="-400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endParaRPr lang="en-US" sz="1050" dirty="0"/>
          </a:p>
          <a:p>
            <a:pPr>
              <a:lnSpc>
                <a:spcPct val="200000"/>
              </a:lnSpc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  = rawMom</a:t>
            </a:r>
            <a:r>
              <a:rPr lang="en-US" sz="1050" baseline="-400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endParaRPr lang="en-US" sz="1050" dirty="0"/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Z-scores computed within GICS sectors — eliminates natural industry factor bias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552" y="4241676"/>
            <a:ext cx="1810512" cy="256032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2272" y="424167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intra-sector exposures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08504" y="2632332"/>
            <a:ext cx="1417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638044" y="1096140"/>
            <a:ext cx="19933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31948" y="1096140"/>
            <a:ext cx="1993392" cy="65836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076700" y="113271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1676" y="1160148"/>
            <a:ext cx="181051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>
                    <a:alpha val="6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2.2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1676" y="1333884"/>
            <a:ext cx="179222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Factor Returns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1676" y="1845948"/>
            <a:ext cx="1792224" cy="2587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month, run a cross-sectional OLS of stock returns on Factor exposures</a:t>
            </a:r>
            <a:endParaRPr lang="en-US" sz="105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fitted coefficients are the pure factor returns</a:t>
            </a:r>
            <a:endParaRPr lang="en-US" sz="105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removes cross-factor collinearity and isolates each factor’s incremental payoff 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23388" y="4241676"/>
            <a:ext cx="1810512" cy="256032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73096" y="4238628"/>
            <a:ext cx="194767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A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 months · avg. 477 stocks/month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25340" y="2632332"/>
            <a:ext cx="1417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748784" y="1096140"/>
            <a:ext cx="19933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48784" y="1096140"/>
            <a:ext cx="1993392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193536" y="113271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58512" y="1160148"/>
            <a:ext cx="181051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>
                    <a:alpha val="6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2.3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58512" y="1333884"/>
            <a:ext cx="179222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 Risk Parity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58512" y="1845948"/>
            <a:ext cx="1792224" cy="2587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a rolling EWMA covariance of pure factor returns</a:t>
            </a:r>
            <a:endParaRPr lang="en-US" sz="105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decorrelates the three pure factors</a:t>
            </a:r>
            <a:endParaRPr lang="en-US" sz="105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 for </a:t>
            </a:r>
            <a:r>
              <a:rPr lang="en-US" sz="1050" b="1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</a:t>
            </a:r>
            <a:r>
              <a:rPr lang="en-US" sz="1050" b="1" baseline="-40000" dirty="0" err="1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FRP</a:t>
            </a:r>
            <a:endParaRPr lang="en-US" sz="105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factor contributes roughly one-third of composite risk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0224" y="4241676"/>
            <a:ext cx="1810512" cy="256032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85944" y="424167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157 monthly weight vectors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42176" y="2632332"/>
            <a:ext cx="1417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6865620" y="1096140"/>
            <a:ext cx="19933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865620" y="1096140"/>
            <a:ext cx="1993392" cy="65836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310372" y="113271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>
                    <a:alpha val="2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75348" y="1160148"/>
            <a:ext cx="181051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FFFF">
                    <a:alpha val="65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2.4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75348" y="1333884"/>
            <a:ext cx="179222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Returns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75348" y="1845948"/>
            <a:ext cx="1792224" cy="2587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μ(i,t)  =  σ(i,t)  ×  Z</a:t>
            </a:r>
            <a:r>
              <a:rPr lang="en-US" sz="1050" b="1" baseline="-400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FRP</a:t>
            </a:r>
            <a:endParaRPr lang="en-US" sz="1050" b="1" baseline="-400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1050" b="1" dirty="0"/>
              <a:t>Z_FRP</a:t>
            </a:r>
            <a:r>
              <a:rPr lang="en-US" altLang="zh-CN" sz="1050" dirty="0"/>
              <a:t> is the FRP-weighted composite signal</a:t>
            </a:r>
            <a:endParaRPr lang="en-US" altLang="zh-CN" sz="105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1050" dirty="0"/>
              <a:t>σ(</a:t>
            </a:r>
            <a:r>
              <a:rPr lang="en-US" altLang="zh-CN" sz="1050" dirty="0" err="1"/>
              <a:t>i,t</a:t>
            </a:r>
            <a:r>
              <a:rPr lang="en-US" altLang="zh-CN" sz="1050" dirty="0"/>
              <a:t>) is trailing 12-month stock volatility</a:t>
            </a:r>
            <a:endParaRPr lang="en-US" altLang="zh-CN" sz="1050" dirty="0"/>
          </a:p>
          <a:p>
            <a:pPr>
              <a:lnSpc>
                <a:spcPct val="130000"/>
              </a:lnSpc>
            </a:pPr>
            <a:r>
              <a:rPr lang="en-US" altLang="zh-CN" sz="1050" dirty="0"/>
              <a:t>Final output is </a:t>
            </a:r>
            <a:r>
              <a:rPr lang="en-US" altLang="zh-CN" sz="1050" dirty="0" err="1"/>
              <a:t>winsorized</a:t>
            </a:r>
            <a:r>
              <a:rPr lang="en-US" altLang="zh-CN" sz="1050" dirty="0"/>
              <a:t> and passed to the optimizer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57060" y="4241676"/>
            <a:ext cx="1810512" cy="256032"/>
          </a:xfrm>
          <a:prstGeom prst="rect">
            <a:avLst/>
          </a:prstGeom>
          <a:solidFill>
            <a:srgbClr val="EBF0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002780" y="424167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Stock-month μ(</a:t>
            </a:r>
            <a:r>
              <a:rPr lang="en-US" sz="900" b="1" dirty="0" err="1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i,t</a:t>
            </a:r>
            <a:r>
              <a:rPr lang="en-US" sz="9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estimates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30459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1  —  FRP Dynamic Weights  &amp;  Risk Contributions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0040" y="1011222"/>
            <a:ext cx="5120640" cy="3090672"/>
          </a:xfrm>
          <a:prstGeom prst="rect">
            <a:avLst/>
          </a:prstGeom>
          <a:solidFill>
            <a:srgbClr val="EBF0F7"/>
          </a:solidFill>
          <a:ln w="1905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011222"/>
            <a:ext cx="5120640" cy="34747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0040" y="1011222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1 - </a:t>
            </a:r>
            <a:r>
              <a:rPr lang="en-US" sz="10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FRP weights &amp; Risk contributions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31846"/>
            <a:ext cx="4754880" cy="2578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 CHART (two panels):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panel:</a:t>
            </a:r>
            <a:r>
              <a:rPr lang="en-US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Monthly FRP weights — w_value (blue), w_size (green), w_mom (orange)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X-axis: 2011-12 → 2024-12  ·  Y-axis: weight (0 to 0.5)</a:t>
            </a:r>
            <a:r>
              <a:rPr lang="en-US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panel:</a:t>
            </a:r>
            <a:r>
              <a:rPr lang="en-US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Risk contributions rc_value / rc_size / rc_mom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Should each track ≈ 33.3%  (equal-MRC confirmation)</a:t>
            </a:r>
            <a:r>
              <a:rPr lang="en-US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file:</a:t>
            </a:r>
            <a:r>
              <a:rPr lang="en-US" sz="10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sp500_frp_weights.csv.gz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Columns: month, w_value, w_size, w_mom, rc_value, rc_size, rc_mom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218683"/>
            <a:ext cx="5120640" cy="566928"/>
          </a:xfrm>
          <a:prstGeom prst="rect">
            <a:avLst/>
          </a:prstGeom>
          <a:solidFill>
            <a:srgbClr val="FFF8EC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4" name="Shape 12"/>
          <p:cNvSpPr/>
          <p:nvPr/>
        </p:nvSpPr>
        <p:spPr>
          <a:xfrm>
            <a:off x="320040" y="4218683"/>
            <a:ext cx="45720" cy="56692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4934" y="4289484"/>
            <a:ext cx="4937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 — Size pure factor return variance surges; </a:t>
            </a:r>
            <a:endParaRPr lang="en-US" sz="1000" i="1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FRP reduces Size weight and reallocates to Value to maintain equal risk contribution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9552" y="965502"/>
            <a:ext cx="16459" cy="376732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669280" y="988182"/>
            <a:ext cx="3154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 SUMMARY  (157 months)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34380" y="1240908"/>
            <a:ext cx="822960" cy="329184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870956" y="1240908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54800" y="1240908"/>
            <a:ext cx="508000" cy="329184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92900" y="1240908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62800" y="1240908"/>
            <a:ext cx="508000" cy="329184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200900" y="1240908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70800" y="1240908"/>
            <a:ext cx="508000" cy="329184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08900" y="1240908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78800" y="1240908"/>
            <a:ext cx="508000" cy="329184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16900" y="1240908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34380" y="1570092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870956" y="1570092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54800" y="1570092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692900" y="1570092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33.8%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62800" y="1570092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200900" y="1570092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70800" y="1570092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708900" y="1570092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30.6%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78800" y="1570092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216900" y="1570092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39.6%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34380" y="1899276"/>
            <a:ext cx="822960" cy="329184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870956" y="1899276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54800" y="1899276"/>
            <a:ext cx="508000" cy="329184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692900" y="1899276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41.1%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62800" y="1899276"/>
            <a:ext cx="508000" cy="329184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200900" y="1899276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70800" y="1899276"/>
            <a:ext cx="508000" cy="329184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708900" y="1899276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36.4%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178800" y="1899276"/>
            <a:ext cx="508000" cy="329184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216900" y="1899276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44.4%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34380" y="2228460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870956" y="2228460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Momentum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54800" y="2228460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692900" y="2228460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25.0%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62800" y="2228460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200900" y="2228460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70800" y="2228460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708900" y="2228460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21.8%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8800" y="2228460"/>
            <a:ext cx="508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216900" y="2228460"/>
            <a:ext cx="4699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30.3%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11952" y="2636892"/>
            <a:ext cx="3154680" cy="2011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</a:t>
            </a:r>
            <a:endParaRPr lang="en-US" sz="8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711952" y="2911212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711952" y="2911212"/>
            <a:ext cx="45720" cy="5486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5805222" y="2968452"/>
            <a:ext cx="3154679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receives highest weight because its pure factor return variance is largest, FRP down-weights automatically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711952" y="3551292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5711952" y="3551292"/>
            <a:ext cx="4572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5821680" y="3587868"/>
            <a:ext cx="296265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contributions are each exactly 33.3% every month constraint is satisfied with near-perfect precision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711952" y="4191372"/>
            <a:ext cx="3154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5711952" y="4191372"/>
            <a:ext cx="45720" cy="5486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5821680" y="4227948"/>
            <a:ext cx="296265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Month-over-month weight shifts are small (mean |Δw| &lt; 0.004), the signal is stable, not noise-driven</a:t>
            </a:r>
            <a:endParaRPr lang="en-US" sz="950" dirty="0"/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682" y="1382601"/>
            <a:ext cx="5095355" cy="27014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29460"/>
            <a:ext cx="7589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1 &amp; 2  —  Pure Factor Return Statistics  &amp;  FF5 Validation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10238" y="866851"/>
            <a:ext cx="6486953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1  — PURE FACTOR RETURN SUMMARY  (180 months, Jan 2010 → Dec 2024)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2877" y="1120194"/>
            <a:ext cx="1051560" cy="30175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079453" y="1120194"/>
            <a:ext cx="99669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94437" y="1120194"/>
            <a:ext cx="1005840" cy="30175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131013" y="1120194"/>
            <a:ext cx="95097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Mean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00277" y="1120194"/>
            <a:ext cx="1005840" cy="30175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136853" y="1120194"/>
            <a:ext cx="95097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Std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06117" y="1120194"/>
            <a:ext cx="777240" cy="30175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142693" y="1120194"/>
            <a:ext cx="72237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 t-stat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83357" y="1120194"/>
            <a:ext cx="685800" cy="30175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919933" y="1120194"/>
            <a:ext cx="63093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p-value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69157" y="1120194"/>
            <a:ext cx="457200" cy="30175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05733" y="1120194"/>
            <a:ext cx="40233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62933" y="1124001"/>
            <a:ext cx="1828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stocks / cross-section: 477  Cross-sect. R²: mean 0.039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42877" y="1421946"/>
            <a:ext cx="1051560" cy="301752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134317" y="1421946"/>
            <a:ext cx="9601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Intercept (α)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94437" y="1421946"/>
            <a:ext cx="1005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131013" y="1421946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+0.84%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00277" y="1421946"/>
            <a:ext cx="1005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136853" y="1421946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4.88%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06117" y="1421946"/>
            <a:ext cx="777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142693" y="1421946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83357" y="1421946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919933" y="1421946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0.022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69157" y="1421946"/>
            <a:ext cx="457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605733" y="1421946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7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042877" y="1723698"/>
            <a:ext cx="1051560" cy="301752"/>
          </a:xfrm>
          <a:prstGeom prst="rect">
            <a:avLst/>
          </a:prstGeom>
          <a:solidFill>
            <a:srgbClr val="E8F0F8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2042877" y="1723698"/>
            <a:ext cx="45720" cy="3017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2134317" y="1723698"/>
            <a:ext cx="9601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94437" y="1723698"/>
            <a:ext cx="1005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3131013" y="1723698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+0.15%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00277" y="1723698"/>
            <a:ext cx="1005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136853" y="1723698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106117" y="1723698"/>
            <a:ext cx="7772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142693" y="1723698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83357" y="1723698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5919933" y="1723698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0.017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569157" y="1723698"/>
            <a:ext cx="4572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605733" y="1723698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7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042877" y="2025450"/>
            <a:ext cx="1051560" cy="301752"/>
          </a:xfrm>
          <a:prstGeom prst="rect">
            <a:avLst/>
          </a:prstGeom>
          <a:solidFill>
            <a:srgbClr val="E8F0F8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2042877" y="2025450"/>
            <a:ext cx="45720" cy="3017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2134317" y="2025450"/>
            <a:ext cx="9601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094437" y="2025450"/>
            <a:ext cx="1005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3131013" y="2025450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−0.51%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100277" y="2025450"/>
            <a:ext cx="1005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4136853" y="2025450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0.84%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106117" y="2025450"/>
            <a:ext cx="7772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5142693" y="2025450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−8.17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883357" y="2025450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5919933" y="2025450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569157" y="2025450"/>
            <a:ext cx="457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6605733" y="2025450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***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042877" y="2327202"/>
            <a:ext cx="1051560" cy="301752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2134317" y="2327202"/>
            <a:ext cx="9601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Momentum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094437" y="2327202"/>
            <a:ext cx="1005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3131013" y="232720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−0.06%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100277" y="2327202"/>
            <a:ext cx="1005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4136853" y="232720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1.23%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106117" y="2327202"/>
            <a:ext cx="7772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5142693" y="2327202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−0.66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883357" y="2327202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5919933" y="2327202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0.513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569157" y="2327202"/>
            <a:ext cx="4572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6605733" y="2327202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1510238" y="2696943"/>
            <a:ext cx="620420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statistically significant and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the dominant priced effect, while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Momentum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significant over this sample period.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0040" y="2971800"/>
            <a:ext cx="850392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1666082" y="3070555"/>
            <a:ext cx="5892517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2  — VALIDATION: PURE FACTOR RETURNS vs FAMA-FRENCH 5 FACTOR</a:t>
            </a:r>
            <a:r>
              <a:rPr lang="en-US" altLang="zh-CN" sz="10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671929" y="3372307"/>
            <a:ext cx="1417320" cy="23317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2717649" y="3372307"/>
            <a:ext cx="1344168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089249" y="3372307"/>
            <a:ext cx="914400" cy="23317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Text 97"/>
          <p:cNvSpPr/>
          <p:nvPr/>
        </p:nvSpPr>
        <p:spPr>
          <a:xfrm>
            <a:off x="4134969" y="3372307"/>
            <a:ext cx="841248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003649" y="3372307"/>
            <a:ext cx="731520" cy="23317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Text 99"/>
          <p:cNvSpPr/>
          <p:nvPr/>
        </p:nvSpPr>
        <p:spPr>
          <a:xfrm>
            <a:off x="5049369" y="3372307"/>
            <a:ext cx="658368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p-value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735169" y="3372307"/>
            <a:ext cx="411480" cy="233172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101"/>
          <p:cNvSpPr/>
          <p:nvPr/>
        </p:nvSpPr>
        <p:spPr>
          <a:xfrm>
            <a:off x="5780889" y="3372307"/>
            <a:ext cx="338328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Sig.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2671929" y="3605479"/>
            <a:ext cx="1417320" cy="251460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Text 105"/>
          <p:cNvSpPr/>
          <p:nvPr/>
        </p:nvSpPr>
        <p:spPr>
          <a:xfrm>
            <a:off x="2763369" y="3605479"/>
            <a:ext cx="13258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 vs  HML (FF)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089249" y="3605479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107"/>
          <p:cNvSpPr/>
          <p:nvPr/>
        </p:nvSpPr>
        <p:spPr>
          <a:xfrm>
            <a:off x="4125825" y="3605479"/>
            <a:ext cx="8229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−0.062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003649" y="3605479"/>
            <a:ext cx="7315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109"/>
          <p:cNvSpPr/>
          <p:nvPr/>
        </p:nvSpPr>
        <p:spPr>
          <a:xfrm>
            <a:off x="5040225" y="3605479"/>
            <a:ext cx="6400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0.406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735169" y="3605479"/>
            <a:ext cx="411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Text 111"/>
          <p:cNvSpPr/>
          <p:nvPr/>
        </p:nvSpPr>
        <p:spPr>
          <a:xfrm>
            <a:off x="5771745" y="3605479"/>
            <a:ext cx="32004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2671929" y="3847795"/>
            <a:ext cx="1417320" cy="251460"/>
          </a:xfrm>
          <a:prstGeom prst="rect">
            <a:avLst/>
          </a:prstGeom>
          <a:solidFill>
            <a:srgbClr val="E8F0F8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hape 115"/>
          <p:cNvSpPr/>
          <p:nvPr/>
        </p:nvSpPr>
        <p:spPr>
          <a:xfrm>
            <a:off x="2671929" y="3847795"/>
            <a:ext cx="45720" cy="2514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Text 116"/>
          <p:cNvSpPr/>
          <p:nvPr/>
        </p:nvSpPr>
        <p:spPr>
          <a:xfrm>
            <a:off x="2763369" y="3847795"/>
            <a:ext cx="13258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  vs  SMB (FF)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4089249" y="3847795"/>
            <a:ext cx="914400" cy="2514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Text 118"/>
          <p:cNvSpPr/>
          <p:nvPr/>
        </p:nvSpPr>
        <p:spPr>
          <a:xfrm>
            <a:off x="4125825" y="3847795"/>
            <a:ext cx="8229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+0.64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5003649" y="3847795"/>
            <a:ext cx="731520" cy="2514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Text 120"/>
          <p:cNvSpPr/>
          <p:nvPr/>
        </p:nvSpPr>
        <p:spPr>
          <a:xfrm>
            <a:off x="5040225" y="3847795"/>
            <a:ext cx="6400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0.000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5735169" y="3847795"/>
            <a:ext cx="411480" cy="2514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Text 122"/>
          <p:cNvSpPr/>
          <p:nvPr/>
        </p:nvSpPr>
        <p:spPr>
          <a:xfrm>
            <a:off x="5771745" y="3847795"/>
            <a:ext cx="32004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***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2671929" y="4090111"/>
            <a:ext cx="1417320" cy="251460"/>
          </a:xfrm>
          <a:prstGeom prst="rect">
            <a:avLst/>
          </a:prstGeom>
          <a:solidFill>
            <a:srgbClr val="E8F0F8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Shape 126"/>
          <p:cNvSpPr/>
          <p:nvPr/>
        </p:nvSpPr>
        <p:spPr>
          <a:xfrm>
            <a:off x="2671929" y="4090111"/>
            <a:ext cx="45720" cy="2514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Text 127"/>
          <p:cNvSpPr/>
          <p:nvPr/>
        </p:nvSpPr>
        <p:spPr>
          <a:xfrm>
            <a:off x="2763369" y="4090111"/>
            <a:ext cx="13258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    vs  MktRF (FF)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4089249" y="4090111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Text 129"/>
          <p:cNvSpPr/>
          <p:nvPr/>
        </p:nvSpPr>
        <p:spPr>
          <a:xfrm>
            <a:off x="4125825" y="4090111"/>
            <a:ext cx="8229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−0.29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003649" y="4090111"/>
            <a:ext cx="7315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Text 131"/>
          <p:cNvSpPr/>
          <p:nvPr/>
        </p:nvSpPr>
        <p:spPr>
          <a:xfrm>
            <a:off x="5040225" y="4090111"/>
            <a:ext cx="6400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0.000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5735169" y="4090111"/>
            <a:ext cx="411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Text 133"/>
          <p:cNvSpPr/>
          <p:nvPr/>
        </p:nvSpPr>
        <p:spPr>
          <a:xfrm>
            <a:off x="5771745" y="4090111"/>
            <a:ext cx="32004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***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2671929" y="4332427"/>
            <a:ext cx="1417320" cy="251460"/>
          </a:xfrm>
          <a:prstGeom prst="rect">
            <a:avLst/>
          </a:prstGeom>
          <a:solidFill>
            <a:srgbClr val="E8F0F8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Shape 137"/>
          <p:cNvSpPr/>
          <p:nvPr/>
        </p:nvSpPr>
        <p:spPr>
          <a:xfrm>
            <a:off x="2671929" y="4332427"/>
            <a:ext cx="45720" cy="2514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Text 138"/>
          <p:cNvSpPr/>
          <p:nvPr/>
        </p:nvSpPr>
        <p:spPr>
          <a:xfrm>
            <a:off x="2763369" y="4332427"/>
            <a:ext cx="13258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 vs  SMB (cross)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4089249" y="4332427"/>
            <a:ext cx="914400" cy="2514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Text 140"/>
          <p:cNvSpPr/>
          <p:nvPr/>
        </p:nvSpPr>
        <p:spPr>
          <a:xfrm>
            <a:off x="4125825" y="4332427"/>
            <a:ext cx="8229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−0.15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5003649" y="4332427"/>
            <a:ext cx="731520" cy="2514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Text 142"/>
          <p:cNvSpPr/>
          <p:nvPr/>
        </p:nvSpPr>
        <p:spPr>
          <a:xfrm>
            <a:off x="5040225" y="4332427"/>
            <a:ext cx="6400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0.043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5735169" y="4332427"/>
            <a:ext cx="411480" cy="2514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Text 144"/>
          <p:cNvSpPr/>
          <p:nvPr/>
        </p:nvSpPr>
        <p:spPr>
          <a:xfrm>
            <a:off x="5771745" y="4332427"/>
            <a:ext cx="32004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7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2671929" y="4574743"/>
            <a:ext cx="1417320" cy="251460"/>
          </a:xfrm>
          <a:prstGeom prst="rect">
            <a:avLst/>
          </a:prstGeom>
          <a:solidFill>
            <a:srgbClr val="E8F0F8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Shape 148"/>
          <p:cNvSpPr/>
          <p:nvPr/>
        </p:nvSpPr>
        <p:spPr>
          <a:xfrm>
            <a:off x="2671929" y="4574743"/>
            <a:ext cx="45720" cy="2514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Text 149"/>
          <p:cNvSpPr/>
          <p:nvPr/>
        </p:nvSpPr>
        <p:spPr>
          <a:xfrm>
            <a:off x="2763369" y="4574743"/>
            <a:ext cx="13258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  vs  HML (cross)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4089249" y="4574743"/>
            <a:ext cx="91440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Text 151"/>
          <p:cNvSpPr/>
          <p:nvPr/>
        </p:nvSpPr>
        <p:spPr>
          <a:xfrm>
            <a:off x="4125825" y="4574743"/>
            <a:ext cx="8229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+0.44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5003649" y="4574743"/>
            <a:ext cx="7315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Text 153"/>
          <p:cNvSpPr/>
          <p:nvPr/>
        </p:nvSpPr>
        <p:spPr>
          <a:xfrm>
            <a:off x="5040225" y="4574743"/>
            <a:ext cx="64008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0.000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5735169" y="4574743"/>
            <a:ext cx="41148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Text 155"/>
          <p:cNvSpPr/>
          <p:nvPr/>
        </p:nvSpPr>
        <p:spPr>
          <a:xfrm>
            <a:off x="5771745" y="4574743"/>
            <a:ext cx="32004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***</a:t>
            </a:r>
            <a:endParaRPr lang="en-US" sz="950" dirty="0"/>
          </a:p>
        </p:txBody>
      </p:sp>
      <p:sp>
        <p:nvSpPr>
          <p:cNvPr id="164" name="Text 91"/>
          <p:cNvSpPr/>
          <p:nvPr/>
        </p:nvSpPr>
        <p:spPr>
          <a:xfrm>
            <a:off x="1824698" y="4937760"/>
            <a:ext cx="56957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shows that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maps cleanly to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while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not a direct </a:t>
            </a:r>
            <a:r>
              <a:rPr lang="en-US" sz="90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HML</a:t>
            </a:r>
            <a:r>
              <a:rPr lang="en-US" sz="9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under our intra-sector construction.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34696"/>
            <a:ext cx="7680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 —  Rolling PCA Risk Model &amp; Convex Optimizer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4320" y="921113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MODEL (Task 3.1) — Rolling PCA factor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56616" y="1527048"/>
            <a:ext cx="320040" cy="3200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6616" y="1527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" y="1240536"/>
            <a:ext cx="35478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Core Selection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1463040"/>
            <a:ext cx="3547872" cy="643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~55 core names from 11 GICS sectors, reselected monthly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universe coverage: 633 stocks/month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 each sector, stocks are sorted by market cap and sampled across equal-count strata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" y="2484737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47472" y="2804777"/>
            <a:ext cx="320040" cy="320040"/>
          </a:xfrm>
          <a:prstGeom prst="ellipse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7472" y="2804777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2535029"/>
            <a:ext cx="35478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EWMA Covariance + Correlation PCA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" y="2757533"/>
            <a:ext cx="354787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EWMA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half-life = 480d, using up to ~10 years of daily data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is run on the correlation matrix, with post-PCA shrink α = 5%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~30 PCs used; mean cum. variance explained = 88.0%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09068" y="3788664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45644" y="4108704"/>
            <a:ext cx="320040" cy="32004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45644" y="410870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5684" y="3831336"/>
            <a:ext cx="35478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Universe Regression + </a:t>
            </a:r>
            <a:r>
              <a:rPr lang="el-GR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</a:t>
            </a:r>
            <a:r>
              <a:rPr lang="en-US" sz="10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Reconstruction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9400" y="4059936"/>
            <a:ext cx="4069079" cy="5565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 all names on PC returns to estimate β loadings and λₑ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monthly β, 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Ω_f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λₑ for optimization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 risk is computed as β</a:t>
            </a:r>
            <a:r>
              <a:rPr lang="en-US" sz="9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Ω_f</a:t>
            </a:r>
            <a:r>
              <a:rPr lang="en-US" sz="9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β′ + Λ</a:t>
            </a:r>
            <a:endParaRPr lang="en-US" sz="9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07992" y="868680"/>
            <a:ext cx="16459" cy="40233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43323" y="921113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 DESIGN  (Task 3.2)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207008"/>
            <a:ext cx="4160520" cy="87782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754880" y="1261872"/>
            <a:ext cx="3931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</a:t>
            </a:r>
            <a:endParaRPr 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27"/>
              <p:cNvSpPr/>
              <p:nvPr/>
            </p:nvSpPr>
            <p:spPr>
              <a:xfrm>
                <a:off x="4754880" y="1453896"/>
                <a:ext cx="3931920" cy="27432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150" b="1" i="0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15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-122"/>
                                  <a:cs typeface="Calibri" panose="020F0502020204030204" pitchFamily="34" charset="-12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150" b="0" i="0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-122"/>
                                  <a:cs typeface="Calibri" panose="020F0502020204030204" pitchFamily="34" charset="-12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150" b="1" i="1" dirty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-122"/>
                                  <a:cs typeface="Calibri" panose="020F0502020204030204" pitchFamily="34" charset="-12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115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 </m:t>
                          </m:r>
                        </m:e>
                      </m:func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 −</m:t>
                      </m:r>
                      <m:sSup>
                        <m:sSupPr>
                          <m:ctrlP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</m:ctrlPr>
                        </m:sSupPr>
                        <m:e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𝝁</m:t>
                          </m:r>
                        </m:e>
                        <m:sup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⊤</m:t>
                          </m:r>
                        </m:sup>
                      </m:sSup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𝒘</m:t>
                      </m:r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+</m:t>
                      </m:r>
                      <m:f>
                        <m:fPr>
                          <m:ctrlP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</m:ctrlPr>
                        </m:fPr>
                        <m:num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𝜸</m:t>
                          </m:r>
                        </m:num>
                        <m:den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</m:ctrlPr>
                        </m:sSupPr>
                        <m:e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𝒘</m:t>
                          </m:r>
                        </m:e>
                        <m:sup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⊤</m:t>
                          </m:r>
                        </m:sup>
                      </m:sSup>
                      <m:r>
                        <a:rPr lang="en-US" sz="1150" b="1" i="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𝚺</m:t>
                      </m:r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𝒘</m:t>
                      </m:r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+</m:t>
                      </m:r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𝒄</m:t>
                      </m:r>
                      <m:r>
                        <m:rPr>
                          <m:lit/>
                        </m:rP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|</m:t>
                      </m:r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𝒘</m:t>
                      </m:r>
                      <m:r>
                        <a:rPr lang="en-US" sz="115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</m:ctrlPr>
                        </m:sSubPr>
                        <m:e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150" b="1" i="0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prev</m:t>
                          </m:r>
                        </m:sub>
                      </m:sSub>
                      <m:sSub>
                        <m:sSubPr>
                          <m:ctrlP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|</m:t>
                          </m:r>
                        </m:e>
                        <m:sub>
                          <m:r>
                            <a:rPr lang="en-US" sz="115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-122"/>
                              <a:cs typeface="Calibri" panose="020F0502020204030204" pitchFamily="34" charset="-12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9" name="Tex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1453896"/>
                <a:ext cx="3931920" cy="274320"/>
              </a:xfrm>
              <a:prstGeom prst="rect">
                <a:avLst/>
              </a:prstGeom>
              <a:blipFill rotWithShape="1">
                <a:blip r:embed="rId1"/>
                <a:stretch>
                  <a:fillRect t="-4306" b="-4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28"/>
          <p:cNvSpPr/>
          <p:nvPr/>
        </p:nvSpPr>
        <p:spPr>
          <a:xfrm>
            <a:off x="4754880" y="1719072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AF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γ = 1.0 risk aversion · c = 0.005 turnover penalty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0900" y="2153920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 LAYERS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38040" y="238252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638040" y="2382521"/>
            <a:ext cx="53034" cy="847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729480" y="2455672"/>
            <a:ext cx="658368" cy="1920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729480" y="24556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1000" y="2464816"/>
            <a:ext cx="3246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Case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44751" y="2644132"/>
            <a:ext cx="3931920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Dollar neutral:  ∑wᵢ = 0</a:t>
            </a:r>
            <a:endParaRPr lang="en-US" sz="9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leverage:  ‖w‖₁ ≤ 2.5</a:t>
            </a:r>
            <a:endParaRPr lang="en-US" sz="9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Single-name cap: ∣𝑤𝑖∣≤2%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0611" y="3293872"/>
            <a:ext cx="4160520" cy="9738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" name="Shape 37"/>
          <p:cNvSpPr/>
          <p:nvPr/>
        </p:nvSpPr>
        <p:spPr>
          <a:xfrm>
            <a:off x="4645355" y="3293871"/>
            <a:ext cx="45719" cy="966833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736795" y="3367024"/>
            <a:ext cx="658368" cy="192024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736795" y="3367024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68315" y="3376168"/>
            <a:ext cx="3246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enhancements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64227" y="3552396"/>
            <a:ext cx="3931920" cy="6259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Beta neutrality: ∣𝛽𝑚𝑘𝑡⊤𝑤∣≤0.05∣</a:t>
            </a:r>
            <a:endParaRPr lang="en-US" sz="9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 target: ann. vol ≤10%</a:t>
            </a:r>
            <a:endParaRPr lang="en-US" sz="9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 band: ±2% net sector exposure</a:t>
            </a:r>
            <a:endParaRPr lang="en-US" sz="9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 neutrality: soft penalty in objective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38040" y="4344916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638040" y="4344916"/>
            <a:ext cx="45720" cy="676656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729480" y="4418068"/>
            <a:ext cx="955040" cy="192024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876495" y="4411653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QC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47768" y="4637524"/>
            <a:ext cx="2084832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157/157 months solved</a:t>
            </a:r>
            <a:endParaRPr lang="en-US" sz="9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constraints used in all months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6831756" y="4636000"/>
            <a:ext cx="1855044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|β·w| = 0.0501</a:t>
            </a:r>
            <a:endParaRPr lang="en-US" sz="900" dirty="0">
              <a:solidFill>
                <a:srgbClr val="1C2B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positions: 68L + 70S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26012"/>
            <a:ext cx="7680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2  &amp;  Table 3  —  Backtest Results  &amp;  FF5 Attribution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45719" y="1101853"/>
            <a:ext cx="4156841" cy="2647222"/>
          </a:xfrm>
          <a:prstGeom prst="rect">
            <a:avLst/>
          </a:prstGeom>
          <a:solidFill>
            <a:srgbClr val="EBF0F7"/>
          </a:solidFill>
          <a:ln w="1905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45719" y="1101854"/>
            <a:ext cx="4156841" cy="29260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7528" y="1101854"/>
            <a:ext cx="415684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2  —NAV &amp; DRAWDOWN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8456" y="1047674"/>
            <a:ext cx="369819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3 - FF5 ATTRIBUTION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8456" y="1297921"/>
            <a:ext cx="1207008" cy="26151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75032" y="1297921"/>
            <a:ext cx="11521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5464" y="1297921"/>
            <a:ext cx="768096" cy="26151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82040" y="1297921"/>
            <a:ext cx="713232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Prelim coef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13560" y="1297921"/>
            <a:ext cx="676656" cy="26151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950136" y="1297921"/>
            <a:ext cx="621792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90216" y="1297921"/>
            <a:ext cx="749808" cy="26151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26792" y="1297921"/>
            <a:ext cx="6949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Full. coef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340024" y="1297921"/>
            <a:ext cx="676656" cy="26151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376600" y="1297921"/>
            <a:ext cx="621792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8456" y="1559439"/>
            <a:ext cx="1207008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938456" y="1559439"/>
            <a:ext cx="36576" cy="26151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011608" y="1559439"/>
            <a:ext cx="11338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Alpha (monthly)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45464" y="1559439"/>
            <a:ext cx="768096" cy="26151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182040" y="1559439"/>
            <a:ext cx="6949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7C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+0.00843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13560" y="1559439"/>
            <a:ext cx="67665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950136" y="1559439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0.076 *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90216" y="1559439"/>
            <a:ext cx="749808" cy="26151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626792" y="1559439"/>
            <a:ext cx="6766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7C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+0.00629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340024" y="1559439"/>
            <a:ext cx="67665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376600" y="1559439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0.097 *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8456" y="1820958"/>
            <a:ext cx="1207008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938456" y="1820958"/>
            <a:ext cx="36576" cy="26151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011608" y="1820958"/>
            <a:ext cx="11338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Mkt-RF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45464" y="1820958"/>
            <a:ext cx="768096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182040" y="1820958"/>
            <a:ext cx="6949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+0.154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13560" y="1820958"/>
            <a:ext cx="676656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950136" y="1820958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0.184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90216" y="1820958"/>
            <a:ext cx="749808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626792" y="1820958"/>
            <a:ext cx="6766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+0.127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340024" y="1820958"/>
            <a:ext cx="676656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376600" y="1820958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0.183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38456" y="2082476"/>
            <a:ext cx="1207008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938456" y="2082476"/>
            <a:ext cx="36576" cy="26151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011608" y="2082476"/>
            <a:ext cx="11338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45464" y="2082476"/>
            <a:ext cx="76809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182040" y="2082476"/>
            <a:ext cx="6949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−0.613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13560" y="2082476"/>
            <a:ext cx="67665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950136" y="2082476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0.007 ***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90216" y="2082476"/>
            <a:ext cx="749808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626792" y="2082476"/>
            <a:ext cx="6766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−0.405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340024" y="2082476"/>
            <a:ext cx="67665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376600" y="2082476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7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0.030 **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938456" y="2343995"/>
            <a:ext cx="1207008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4938456" y="2343995"/>
            <a:ext cx="36576" cy="26151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011608" y="2343995"/>
            <a:ext cx="11338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RMW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45464" y="2343995"/>
            <a:ext cx="768096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182040" y="2343995"/>
            <a:ext cx="6949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−0.490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13560" y="2343995"/>
            <a:ext cx="676656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950136" y="2343995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7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0.019 **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590216" y="2343995"/>
            <a:ext cx="749808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626792" y="2343995"/>
            <a:ext cx="6766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−0.333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40024" y="2343995"/>
            <a:ext cx="676656" cy="26151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376600" y="2343995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7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0.027 **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938456" y="2605513"/>
            <a:ext cx="1207008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4938456" y="2605513"/>
            <a:ext cx="36576" cy="26151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5011608" y="2605513"/>
            <a:ext cx="11338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HML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45464" y="2605513"/>
            <a:ext cx="76809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6182040" y="2605513"/>
            <a:ext cx="69494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+0.270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913560" y="2605513"/>
            <a:ext cx="67665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6950136" y="2605513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0.226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590216" y="2605513"/>
            <a:ext cx="749808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7626792" y="2605513"/>
            <a:ext cx="676656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+0.195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340024" y="2605513"/>
            <a:ext cx="676656" cy="26151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8376600" y="2605513"/>
            <a:ext cx="603504" cy="261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0.294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63919" y="2867031"/>
            <a:ext cx="4243918" cy="17109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Alpha remains positive but only borderline significant (+7.55% ann., p = 0.097); with 157 months and R² = 5.9%, FF5 explains only a small share of strategy returns.</a:t>
            </a:r>
            <a:endParaRPr lang="en-US" sz="850" i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i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exposure is concentrated in </a:t>
            </a:r>
            <a:r>
              <a:rPr lang="en-US" sz="85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</a:t>
            </a: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850" b="1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RMW</a:t>
            </a: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the portfolio loads negatively on both, consistent with a large-cap tilt inside the S&amp;P 500 and a Value–Quality trade-off in our 3-factor signal set. </a:t>
            </a:r>
            <a:endParaRPr lang="en-US" sz="850" i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50" i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Interpretation: more like a factor-model limitation than a pipeline failure—our signals are defined differently from FF5 and do not directly span profitability/investment dimensions.</a:t>
            </a:r>
            <a:endParaRPr lang="en-US" sz="850" i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4758183" y="868680"/>
            <a:ext cx="16459" cy="411480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0" name="图片 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40" y="1391794"/>
            <a:ext cx="4136413" cy="2345491"/>
          </a:xfrm>
          <a:prstGeom prst="rect">
            <a:avLst/>
          </a:prstGeom>
        </p:spPr>
      </p:pic>
      <p:sp>
        <p:nvSpPr>
          <p:cNvPr id="221" name="Text 77"/>
          <p:cNvSpPr/>
          <p:nvPr/>
        </p:nvSpPr>
        <p:spPr>
          <a:xfrm>
            <a:off x="640080" y="3875361"/>
            <a:ext cx="3803194" cy="5436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full-constraint portfolio compounds steadily through the sample and remains strongly profitable after costs, with net annual return of 7.53%, net Sharpe of 0.50, and net max drawdown of 23.18%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矩形 221"/>
          <p:cNvSpPr/>
          <p:nvPr/>
        </p:nvSpPr>
        <p:spPr>
          <a:xfrm>
            <a:off x="4381887" y="1044341"/>
            <a:ext cx="4437682" cy="3932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402336" y="898111"/>
            <a:ext cx="1572768" cy="26974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438912" y="898111"/>
            <a:ext cx="1517904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975104" y="898111"/>
            <a:ext cx="822960" cy="26974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2011680" y="898111"/>
            <a:ext cx="76809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798064" y="898111"/>
            <a:ext cx="822960" cy="26974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2834640" y="898111"/>
            <a:ext cx="76809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Full-Constraint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21024" y="898111"/>
            <a:ext cx="530352" cy="269748"/>
          </a:xfrm>
          <a:prstGeom prst="rect">
            <a:avLst/>
          </a:prstGeom>
          <a:solidFill>
            <a:srgbClr val="1A2E4A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/>
          <p:nvPr/>
        </p:nvSpPr>
        <p:spPr>
          <a:xfrm>
            <a:off x="3657600" y="898111"/>
            <a:ext cx="47548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Δ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02336" y="1167859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475488" y="1167859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Ann. Return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975104" y="1167859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Text 92"/>
          <p:cNvSpPr/>
          <p:nvPr/>
        </p:nvSpPr>
        <p:spPr>
          <a:xfrm>
            <a:off x="2011680" y="1167859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+11.81%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798064" y="1167859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Text 94"/>
          <p:cNvSpPr/>
          <p:nvPr/>
        </p:nvSpPr>
        <p:spPr>
          <a:xfrm>
            <a:off x="2834640" y="1167859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+9.52%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21024" y="1167859"/>
            <a:ext cx="53035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Text 96"/>
          <p:cNvSpPr/>
          <p:nvPr/>
        </p:nvSpPr>
        <p:spPr>
          <a:xfrm>
            <a:off x="3657600" y="1167859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−229 bps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02336" y="1437607"/>
            <a:ext cx="1572768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Text 99"/>
          <p:cNvSpPr/>
          <p:nvPr/>
        </p:nvSpPr>
        <p:spPr>
          <a:xfrm>
            <a:off x="475488" y="1437607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Ann. Return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975104" y="1437607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101"/>
          <p:cNvSpPr/>
          <p:nvPr/>
        </p:nvSpPr>
        <p:spPr>
          <a:xfrm>
            <a:off x="2011680" y="1437607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+9.83%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98064" y="1437607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103"/>
          <p:cNvSpPr/>
          <p:nvPr/>
        </p:nvSpPr>
        <p:spPr>
          <a:xfrm>
            <a:off x="2834640" y="1437607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+7.53%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621024" y="1437607"/>
            <a:ext cx="530352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Text 105"/>
          <p:cNvSpPr/>
          <p:nvPr/>
        </p:nvSpPr>
        <p:spPr>
          <a:xfrm>
            <a:off x="3657600" y="1437607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−230 bps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02336" y="1707355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108"/>
          <p:cNvSpPr/>
          <p:nvPr/>
        </p:nvSpPr>
        <p:spPr>
          <a:xfrm>
            <a:off x="475488" y="1707355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Ann. Volatility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1975104" y="1707355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Text 110"/>
          <p:cNvSpPr/>
          <p:nvPr/>
        </p:nvSpPr>
        <p:spPr>
          <a:xfrm>
            <a:off x="2011680" y="1707355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18.22%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2798064" y="1707355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Text 112"/>
          <p:cNvSpPr/>
          <p:nvPr/>
        </p:nvSpPr>
        <p:spPr>
          <a:xfrm>
            <a:off x="2834640" y="1707355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13.99%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621024" y="1707355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Text 114"/>
          <p:cNvSpPr/>
          <p:nvPr/>
        </p:nvSpPr>
        <p:spPr>
          <a:xfrm>
            <a:off x="3657600" y="1707355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−423 bps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02336" y="1977103"/>
            <a:ext cx="1572768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Text 117"/>
          <p:cNvSpPr/>
          <p:nvPr/>
        </p:nvSpPr>
        <p:spPr>
          <a:xfrm>
            <a:off x="475488" y="1977103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Sharpe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1975104" y="1977103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Text 119"/>
          <p:cNvSpPr/>
          <p:nvPr/>
        </p:nvSpPr>
        <p:spPr>
          <a:xfrm>
            <a:off x="2011680" y="1977103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0.637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2798064" y="1977103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Text 121"/>
          <p:cNvSpPr/>
          <p:nvPr/>
        </p:nvSpPr>
        <p:spPr>
          <a:xfrm>
            <a:off x="2834640" y="1977103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0.632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621024" y="1977103"/>
            <a:ext cx="530352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Text 123"/>
          <p:cNvSpPr/>
          <p:nvPr/>
        </p:nvSpPr>
        <p:spPr>
          <a:xfrm>
            <a:off x="3657600" y="1977103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dirty="0"/>
              <a:t>-0.005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402336" y="2246851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Text 126"/>
          <p:cNvSpPr/>
          <p:nvPr/>
        </p:nvSpPr>
        <p:spPr>
          <a:xfrm>
            <a:off x="475488" y="2246851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Sharpe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1975104" y="2246851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Text 128"/>
          <p:cNvSpPr/>
          <p:nvPr/>
        </p:nvSpPr>
        <p:spPr>
          <a:xfrm>
            <a:off x="2011680" y="2246851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0.538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2798064" y="2246851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Text 130"/>
          <p:cNvSpPr/>
          <p:nvPr/>
        </p:nvSpPr>
        <p:spPr>
          <a:xfrm>
            <a:off x="2834640" y="2246851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0.500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621024" y="2246851"/>
            <a:ext cx="53035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Text 132"/>
          <p:cNvSpPr/>
          <p:nvPr/>
        </p:nvSpPr>
        <p:spPr>
          <a:xfrm>
            <a:off x="3657600" y="2246851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−0.038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402336" y="2516599"/>
            <a:ext cx="1572768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Text 135"/>
          <p:cNvSpPr/>
          <p:nvPr/>
        </p:nvSpPr>
        <p:spPr>
          <a:xfrm>
            <a:off x="475488" y="2516599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Max DD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975104" y="2516599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Text 137"/>
          <p:cNvSpPr/>
          <p:nvPr/>
        </p:nvSpPr>
        <p:spPr>
          <a:xfrm>
            <a:off x="2011680" y="2516599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−24.38%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798064" y="2516599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Text 139"/>
          <p:cNvSpPr/>
          <p:nvPr/>
        </p:nvSpPr>
        <p:spPr>
          <a:xfrm>
            <a:off x="2834640" y="2516599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−22.76%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621024" y="2516599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Text 141"/>
          <p:cNvSpPr/>
          <p:nvPr/>
        </p:nvSpPr>
        <p:spPr>
          <a:xfrm>
            <a:off x="3657600" y="2516599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+162 bps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402336" y="2786347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Text 144"/>
          <p:cNvSpPr/>
          <p:nvPr/>
        </p:nvSpPr>
        <p:spPr>
          <a:xfrm>
            <a:off x="475488" y="2786347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Max DD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1975104" y="2786347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Text 146"/>
          <p:cNvSpPr/>
          <p:nvPr/>
        </p:nvSpPr>
        <p:spPr>
          <a:xfrm>
            <a:off x="2011680" y="2786347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−25.52%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2798064" y="2786347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Text 148"/>
          <p:cNvSpPr/>
          <p:nvPr/>
        </p:nvSpPr>
        <p:spPr>
          <a:xfrm>
            <a:off x="2834640" y="2786347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−23.18%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3621024" y="2786347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Text 150"/>
          <p:cNvSpPr/>
          <p:nvPr/>
        </p:nvSpPr>
        <p:spPr>
          <a:xfrm>
            <a:off x="3657600" y="2786347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+234 bps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402336" y="3056095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Shape 161"/>
          <p:cNvSpPr/>
          <p:nvPr/>
        </p:nvSpPr>
        <p:spPr>
          <a:xfrm>
            <a:off x="402336" y="3056095"/>
            <a:ext cx="36576" cy="2697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Text 162"/>
          <p:cNvSpPr/>
          <p:nvPr/>
        </p:nvSpPr>
        <p:spPr>
          <a:xfrm>
            <a:off x="475488" y="3056095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Monthly TO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1975104" y="3056095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Text 164"/>
          <p:cNvSpPr/>
          <p:nvPr/>
        </p:nvSpPr>
        <p:spPr>
          <a:xfrm>
            <a:off x="2011680" y="3056095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dirty="0"/>
              <a:t>54</a:t>
            </a: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2798064" y="3056095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Text 166"/>
          <p:cNvSpPr/>
          <p:nvPr/>
        </p:nvSpPr>
        <p:spPr>
          <a:xfrm>
            <a:off x="2834640" y="3056095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51%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3621024" y="3056095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Text 168"/>
          <p:cNvSpPr/>
          <p:nvPr/>
        </p:nvSpPr>
        <p:spPr>
          <a:xfrm>
            <a:off x="3657600" y="3056095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−3 ppts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402336" y="3325843"/>
            <a:ext cx="1572768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Shape 170"/>
          <p:cNvSpPr/>
          <p:nvPr/>
        </p:nvSpPr>
        <p:spPr>
          <a:xfrm>
            <a:off x="402336" y="3325843"/>
            <a:ext cx="36576" cy="2697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Text 171"/>
          <p:cNvSpPr/>
          <p:nvPr/>
        </p:nvSpPr>
        <p:spPr>
          <a:xfrm>
            <a:off x="475488" y="3325843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Positions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1975104" y="3325843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Text 173"/>
          <p:cNvSpPr/>
          <p:nvPr/>
        </p:nvSpPr>
        <p:spPr>
          <a:xfrm>
            <a:off x="2011680" y="3325843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dirty="0"/>
              <a:t>~25L + 26S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2798064" y="3325843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Text 175"/>
          <p:cNvSpPr/>
          <p:nvPr/>
        </p:nvSpPr>
        <p:spPr>
          <a:xfrm>
            <a:off x="2834640" y="3325843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~68L + 70S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3621024" y="3325843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Text 177"/>
          <p:cNvSpPr/>
          <p:nvPr/>
        </p:nvSpPr>
        <p:spPr>
          <a:xfrm>
            <a:off x="3657600" y="3325843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+87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402336" y="3595591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Shape 179"/>
          <p:cNvSpPr/>
          <p:nvPr/>
        </p:nvSpPr>
        <p:spPr>
          <a:xfrm>
            <a:off x="402336" y="3595591"/>
            <a:ext cx="36576" cy="2697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Text 180"/>
          <p:cNvSpPr/>
          <p:nvPr/>
        </p:nvSpPr>
        <p:spPr>
          <a:xfrm>
            <a:off x="475488" y="3595591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Mkt Beta (FF5)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1975104" y="3595591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Text 182"/>
          <p:cNvSpPr/>
          <p:nvPr/>
        </p:nvSpPr>
        <p:spPr>
          <a:xfrm>
            <a:off x="2011680" y="3595591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+0.154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2798064" y="3595591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Text 184"/>
          <p:cNvSpPr/>
          <p:nvPr/>
        </p:nvSpPr>
        <p:spPr>
          <a:xfrm>
            <a:off x="2834640" y="3595591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+0.127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3621024" y="3595591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Text 186"/>
          <p:cNvSpPr/>
          <p:nvPr/>
        </p:nvSpPr>
        <p:spPr>
          <a:xfrm>
            <a:off x="3657600" y="3595591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−0.027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402336" y="3865339"/>
            <a:ext cx="1572768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Shape 188"/>
          <p:cNvSpPr/>
          <p:nvPr/>
        </p:nvSpPr>
        <p:spPr>
          <a:xfrm>
            <a:off x="402336" y="3865339"/>
            <a:ext cx="36576" cy="2697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Text 189"/>
          <p:cNvSpPr/>
          <p:nvPr/>
        </p:nvSpPr>
        <p:spPr>
          <a:xfrm>
            <a:off x="475488" y="3865339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 Beta (FF5)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1975104" y="3865339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Text 191"/>
          <p:cNvSpPr/>
          <p:nvPr/>
        </p:nvSpPr>
        <p:spPr>
          <a:xfrm>
            <a:off x="2011680" y="3865339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−0.613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2798064" y="3865339"/>
            <a:ext cx="822960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Text 193"/>
          <p:cNvSpPr/>
          <p:nvPr/>
        </p:nvSpPr>
        <p:spPr>
          <a:xfrm>
            <a:off x="2834640" y="3865339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−0.405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3621024" y="3865339"/>
            <a:ext cx="530352" cy="269748"/>
          </a:xfrm>
          <a:prstGeom prst="rect">
            <a:avLst/>
          </a:prstGeom>
          <a:solidFill>
            <a:srgbClr val="EAF4ED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Text 195"/>
          <p:cNvSpPr/>
          <p:nvPr/>
        </p:nvSpPr>
        <p:spPr>
          <a:xfrm>
            <a:off x="3657600" y="3865339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+0.208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02336" y="4135087"/>
            <a:ext cx="157276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Shape 197"/>
          <p:cNvSpPr/>
          <p:nvPr/>
        </p:nvSpPr>
        <p:spPr>
          <a:xfrm>
            <a:off x="402336" y="4135087"/>
            <a:ext cx="36576" cy="2697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Text 198"/>
          <p:cNvSpPr/>
          <p:nvPr/>
        </p:nvSpPr>
        <p:spPr>
          <a:xfrm>
            <a:off x="475488" y="4135087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FF5 α gross ann.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1975104" y="4135087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Text 200"/>
          <p:cNvSpPr/>
          <p:nvPr/>
        </p:nvSpPr>
        <p:spPr>
          <a:xfrm>
            <a:off x="2011680" y="4135087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+10.11%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2798064" y="4135087"/>
            <a:ext cx="8229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Text 202"/>
          <p:cNvSpPr/>
          <p:nvPr/>
        </p:nvSpPr>
        <p:spPr>
          <a:xfrm>
            <a:off x="2834640" y="4135087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+7.55%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3621024" y="4135087"/>
            <a:ext cx="53035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6" name="Text 204"/>
          <p:cNvSpPr/>
          <p:nvPr/>
        </p:nvSpPr>
        <p:spPr>
          <a:xfrm>
            <a:off x="3657600" y="4135087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-256 bps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402336" y="4404835"/>
            <a:ext cx="1572768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Shape 206"/>
          <p:cNvSpPr/>
          <p:nvPr/>
        </p:nvSpPr>
        <p:spPr>
          <a:xfrm>
            <a:off x="402336" y="4404835"/>
            <a:ext cx="36576" cy="2697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Text 207"/>
          <p:cNvSpPr/>
          <p:nvPr/>
        </p:nvSpPr>
        <p:spPr>
          <a:xfrm>
            <a:off x="475488" y="4404835"/>
            <a:ext cx="1499616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FF5 α p-value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1975104" y="4404835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Text 209"/>
          <p:cNvSpPr/>
          <p:nvPr/>
        </p:nvSpPr>
        <p:spPr>
          <a:xfrm>
            <a:off x="2011680" y="4404835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0.076 *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2798064" y="4404835"/>
            <a:ext cx="822960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Text 211"/>
          <p:cNvSpPr/>
          <p:nvPr/>
        </p:nvSpPr>
        <p:spPr>
          <a:xfrm>
            <a:off x="2834640" y="4404835"/>
            <a:ext cx="749808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0.097 *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3621024" y="4404835"/>
            <a:ext cx="530352" cy="269748"/>
          </a:xfrm>
          <a:prstGeom prst="rect">
            <a:avLst/>
          </a:prstGeom>
          <a:solidFill>
            <a:srgbClr val="EBF0F7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Text 213"/>
          <p:cNvSpPr/>
          <p:nvPr/>
        </p:nvSpPr>
        <p:spPr>
          <a:xfrm>
            <a:off x="3657600" y="4404835"/>
            <a:ext cx="457200" cy="2697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9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248758"/>
            <a:ext cx="7680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4  —  A / B  COMPARISON 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" name="Text 214"/>
          <p:cNvSpPr/>
          <p:nvPr/>
        </p:nvSpPr>
        <p:spPr>
          <a:xfrm>
            <a:off x="457200" y="467843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= Enhanced meaningfully better  ·  Cost: 10bp one-way + 50bp borrow</a:t>
            </a:r>
            <a:endParaRPr lang="en-US" sz="850" dirty="0"/>
          </a:p>
        </p:txBody>
      </p:sp>
      <p:sp>
        <p:nvSpPr>
          <p:cNvPr id="218" name="文本框 217"/>
          <p:cNvSpPr txBox="1"/>
          <p:nvPr/>
        </p:nvSpPr>
        <p:spPr>
          <a:xfrm>
            <a:off x="4344693" y="1459125"/>
            <a:ext cx="40756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 falls because constraints get tighter: </a:t>
            </a:r>
            <a:endParaRPr lang="en-US" altLang="zh-CN" sz="1000" b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beta neutrality, </a:t>
            </a:r>
            <a:r>
              <a:rPr lang="en-US" altLang="zh-CN" sz="1000" dirty="0" err="1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w_max</a:t>
            </a:r>
            <a:r>
              <a:rPr lang="en-US" altLang="zh-CN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2%, and broader diversification reduce concentration risk.</a:t>
            </a:r>
            <a:endParaRPr lang="en-US" altLang="zh-CN" sz="10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altLang="zh-CN" sz="10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and alpha fall for the same reason: </a:t>
            </a:r>
            <a:endParaRPr lang="en-US" altLang="zh-CN" sz="1000" b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tighter feasible set leaves less room to express the strongest signals.</a:t>
            </a:r>
            <a:endParaRPr lang="en-US" altLang="zh-CN" sz="10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altLang="zh-CN" sz="1000" b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 improves but does not vanish: </a:t>
            </a:r>
            <a:endParaRPr lang="en-US" altLang="zh-CN" sz="1000" b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final optimizer controls market beta, not the full FF5 factor vector, and uses only a soft SMB penalty. </a:t>
            </a:r>
            <a:endParaRPr lang="en-US" altLang="zh-CN" sz="10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altLang="zh-CN" sz="1000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b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Turnover improves only modestly: </a:t>
            </a:r>
            <a:endParaRPr lang="en-US" altLang="zh-CN" sz="1000" b="1" dirty="0">
              <a:solidFill>
                <a:srgbClr val="6B7A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000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versions rebalance monthly on the same 157-month schedule, so signal refresh still drives most trading.</a:t>
            </a:r>
            <a:endParaRPr lang="zh-CN" altLang="en-US" sz="1000" dirty="0">
              <a:solidFill>
                <a:srgbClr val="6B7A8D"/>
              </a:solidFill>
              <a:latin typeface="Calibri" panose="020F0502020204030204" pitchFamily="34" charset="0"/>
              <a:cs typeface="Calibri" panose="020F0502020204030204" pitchFamily="34" charset="-120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4381887" y="1022653"/>
            <a:ext cx="35749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kern="0" spc="15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not a return-maximization upgrade </a:t>
            </a:r>
            <a:endParaRPr lang="en-US" altLang="zh-CN" sz="1100" b="1" kern="0" spc="15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100" b="1" kern="0" spc="15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risk-control upgrade</a:t>
            </a:r>
            <a:endParaRPr lang="en-US" altLang="zh-CN" sz="1100" b="1" kern="0" spc="15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zh-CN" alt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640080" cy="256032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4A"/>
                </a:solidFill>
              </a:rPr>
              <a:t>10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"/>
            <a:ext cx="7680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30352"/>
            <a:ext cx="7680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  ·  What we found  ·  What it implies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43200" cy="391363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4320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48056" y="10058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" y="1490472"/>
            <a:ext cx="2542032" cy="3273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Reproducible research stack: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 data panel → FRP expected returns → rolling PCA risk model → convex optimizer → FF5 attribution.</a:t>
            </a:r>
            <a:endParaRPr lang="en-US" sz="10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portfolio construction: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dollar neutrality, sector bands, leverage control, beta neutrality, tighter name caps, and a soft SMB penalty.</a:t>
            </a:r>
            <a:endParaRPr lang="en-US" sz="1000" dirty="0">
              <a:solidFill>
                <a:srgbClr val="C8D8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Auditable implementation: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delisting-adjusted prices, PIT delay max(rdq+1, datadate+45d), merge/uniqueness checks, and 157 monthly model runs.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743200" cy="391363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743200" cy="457200"/>
          </a:xfrm>
          <a:prstGeom prst="rect">
            <a:avLst/>
          </a:prstGeom>
          <a:solidFill>
            <a:srgbClr val="0D7C6A"/>
          </a:solidFill>
          <a:ln w="12700">
            <a:solidFill>
              <a:srgbClr val="0D7C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300984" y="10058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Found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00984" y="1490472"/>
            <a:ext cx="2542032" cy="3273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Full-Constraint final portfolio: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+7.53% ann., 13.99% vol,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 Sharpe, -23.18% max drawdown, with 157/157 months solved under strict constraints</a:t>
            </a:r>
            <a:endParaRPr lang="en-US" sz="10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Compared with baseline: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vol and drawdown, cleaner market/SMB exposure, but lower return and lower FF5 alpha; the book also becomes much broader </a:t>
            </a:r>
            <a:endParaRPr lang="en-US" sz="1000" dirty="0">
              <a:solidFill>
                <a:srgbClr val="C8D8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FF5 attribution: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alpha remains positive but borderline, while residual loadings are concentrated in SMB and RMW rather than market beta alone.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960120"/>
            <a:ext cx="2743200" cy="3913632"/>
          </a:xfrm>
          <a:prstGeom prst="rect">
            <a:avLst/>
          </a:prstGeom>
          <a:solidFill>
            <a:srgbClr val="1E3A5C"/>
          </a:solidFill>
          <a:ln w="12700">
            <a:solidFill>
              <a:srgbClr val="2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025896" y="960120"/>
            <a:ext cx="2743200" cy="4572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153912" y="10058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Implies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53912" y="1490472"/>
            <a:ext cx="2560320" cy="3273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 risk-control upgrade, not a return-maximization win: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tighter constraints cut concentration risk and drawdowns, but also compress signal expression and alpha capture.</a:t>
            </a:r>
            <a:endParaRPr lang="en-US" sz="10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main limitation is signal space, not pipeline integrity: </a:t>
            </a:r>
            <a:b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3-factor, intra-sector, MAD-</a:t>
            </a:r>
            <a:r>
              <a:rPr lang="en-US" sz="1000" dirty="0" err="1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winsorized</a:t>
            </a: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design does not fully line up with FF5 and does not directly span profitability/investment dimensions.</a:t>
            </a:r>
            <a:endParaRPr lang="en-US" sz="1000" dirty="0">
              <a:solidFill>
                <a:srgbClr val="C8D8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next step: </a:t>
            </a:r>
            <a:br>
              <a:rPr lang="en-US" sz="1050" b="1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1000" dirty="0">
                <a:solidFill>
                  <a:srgbClr val="C8D8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Quality/Profitability (and potentially Investment) signals, or impose explicit neutrality on residual FF-style tilts such as SMB/RMW.</a:t>
            </a:r>
            <a:endParaRPr lang="en-US" sz="1000" dirty="0">
              <a:solidFill>
                <a:srgbClr val="C8D8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01168" cy="50794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78992" y="242316"/>
            <a:ext cx="7680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 —  Data Files  &amp;  Code Notebooks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4251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A.  DATA  (CSV / CSV.GZ)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0040" y="1115568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02336" y="1115568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sp500_price_panel_with_delist.csv.gz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Price panel · 871 stocks · 2.9M rows · 2008–2024 · delist-adjusted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0040" y="1367942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1367942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02336" y="1367942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sp500_monthly_returns.csv.gz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Monthly returns · 140,070 rows · ret_monthly, in_sp500_eom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20040" y="1620317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1620317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02336" y="1620317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sp500_ccm_lnkhist_all_nodvmt.csv.gz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CRSP-Compustat link history · 1,067 firm-links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0040" y="1872691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1872691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02336" y="1872691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sp500_fundq_pit_rebuilt_nodvmt.csv.gz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PIT quarterly fundamentals · 53,985 rows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0040" y="2125066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20040" y="2125066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02336" y="2125066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sp500_monthly_signals_rebuilt_nodvmt.csv.gz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Monthly signals (Value, Size) · 115,962 rows · sector-Z-scored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20040" y="2377440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377440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02336" y="2377440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sp500_monthly_signals_3factor.csv.gz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Monthly signals (Value, Size, Momentum) · 115,962 rows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20040" y="2629814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20040" y="2629814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02336" y="2629814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sp500_pure_factor_returns.csv.gz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Pure factor returns · 180 months · f_value, f_size, f_mom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20040" y="2882189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20040" y="2882189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02336" y="2882189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sp500_frp_weights.csv.gz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FRP dynamic weights · 157 months · w_value, w_size, w_mom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20040" y="3134563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20040" y="3134563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02336" y="3134563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sp500_expected_returns.csv.gz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Expected returns μ(i,t) · 99,363 stock-months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20040" y="3386938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20040" y="3386938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02336" y="3386938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sp500_risk_models.pkl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PCA risk model objects B, Ω, Δ per month (157 pickled dicts)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20040" y="3639312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320040" y="3639312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02336" y="3639312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sp500_backtest_results.csv.gz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Preliminary backtest results · 157 months · all metrics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20040" y="3891686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320040" y="3891686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02336" y="3891686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sp500_backtest_results_enhanced.csv.gz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Enhanced backtest results · 157 months · all metrics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320040" y="4144061"/>
            <a:ext cx="4251960" cy="252374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20040" y="4144061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02336" y="4144061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sp500_portfolio_weights_enhanced.csv.gz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Enhanced portfolio weights · 49,469 stock-month records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20040" y="4396435"/>
            <a:ext cx="4251960" cy="252374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320040" y="4396435"/>
            <a:ext cx="36576" cy="25237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02336" y="4396435"/>
            <a:ext cx="4114800" cy="25237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FF_Research_Data_5_Factors_2x3_daily.CSV  </a:t>
            </a:r>
            <a:r>
              <a:rPr lang="en-US" sz="78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 Fama-French 5-factor daily data (WRDS)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681728" y="841248"/>
            <a:ext cx="16459" cy="42062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4828032" y="896112"/>
            <a:ext cx="40050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  CODE  (</a:t>
            </a:r>
            <a:r>
              <a:rPr lang="en-US" sz="850" b="1" kern="0" spc="150" dirty="0" err="1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</a:t>
            </a:r>
            <a:r>
              <a:rPr lang="en-US" sz="850" b="1" kern="0" spc="150" dirty="0">
                <a:solidFill>
                  <a:srgbClr val="B893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Notebooks)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28032" y="1115568"/>
            <a:ext cx="40050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828032" y="1115568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919472" y="1161288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HFS_Project_Data_Fetcher_0304.html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4919472" y="1325880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Data ingestion, PIT rebuild, delistings, price panel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28032" y="1499616"/>
            <a:ext cx="4005072" cy="384048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4828032" y="1499616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4919472" y="1545336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HFS_Phase2_Momentum.html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4919472" y="1709928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Momentum signal engineering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28032" y="1883664"/>
            <a:ext cx="40050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4828032" y="1883664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4919472" y="1929384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HFS_Phase2_Task2_2_CrossSectionalRegression.html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4919472" y="2093976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Fama-MacBeth cross-sectional regression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28032" y="2267712"/>
            <a:ext cx="4005072" cy="384048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4828032" y="2267712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4919472" y="2313432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HFS_Phase2_Task2_3_FRP_and_ExpectedReturns.html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4919472" y="2478024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FRP weights + expected return vector μ(i,t)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28032" y="2651760"/>
            <a:ext cx="40050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4828032" y="2651760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4919472" y="2697480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HFS_Phase3_Task3_1_PCA_RiskModel.html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4919472" y="2862072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— PCA risk model (EWMA cov + Ledoit-Wolf)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28032" y="3035808"/>
            <a:ext cx="4005072" cy="384048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4828032" y="3035808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4919472" y="3081528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HFS_Phase3_Task3_2_Optimizer.html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4919472" y="3246120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— Preliminary optimizer + backtest (Task 3.2)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28032" y="3419856"/>
            <a:ext cx="40050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4828032" y="3419856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4919472" y="3465576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HFS_Phase3_Task3_3_Enhanced_Optimizer_Phase4.html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4919472" y="3630168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3+4 — Enhanced optimizer, QC + FF5 attribution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828032" y="3803904"/>
            <a:ext cx="4005072" cy="384048"/>
          </a:xfrm>
          <a:prstGeom prst="rect">
            <a:avLst/>
          </a:prstGeom>
          <a:solidFill>
            <a:srgbClr val="EBF0F7"/>
          </a:solidFill>
          <a:ln w="508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4828032" y="3803904"/>
            <a:ext cx="36576" cy="384048"/>
          </a:xfrm>
          <a:prstGeom prst="rect">
            <a:avLst/>
          </a:prstGeom>
          <a:solidFill>
            <a:srgbClr val="B8933E"/>
          </a:solidFill>
          <a:ln w="12700">
            <a:solidFill>
              <a:srgbClr val="B893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4919472" y="3849624"/>
            <a:ext cx="38587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HFS_Phase4_Task3_2_Backtest_Attribution.html</a:t>
            </a:r>
            <a:endParaRPr lang="en-US" sz="780" dirty="0"/>
          </a:p>
        </p:txBody>
      </p:sp>
      <p:sp>
        <p:nvSpPr>
          <p:cNvPr id="85" name="Text 83"/>
          <p:cNvSpPr/>
          <p:nvPr/>
        </p:nvSpPr>
        <p:spPr>
          <a:xfrm>
            <a:off x="4919472" y="4014216"/>
            <a:ext cx="3858768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— Full FF5 attribution on Preliminary backtest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13143</Words>
  <Application>WPS 演示</Application>
  <PresentationFormat>全屏显示(16:9)</PresentationFormat>
  <Paragraphs>797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Cambria Math</vt:lpstr>
      <vt:lpstr>微软雅黑</vt:lpstr>
      <vt:lpstr>Arial Unicode MS</vt:lpstr>
      <vt:lpstr>等线</vt:lpstr>
      <vt:lpstr>BatangChe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SP500 Market-Neutral Strategy</dc:title>
  <dc:creator>Jonas Wu</dc:creator>
  <dc:subject>PptxGenJS Presentation</dc:subject>
  <cp:lastModifiedBy>JonasWyn</cp:lastModifiedBy>
  <cp:revision>22</cp:revision>
  <dcterms:created xsi:type="dcterms:W3CDTF">2026-03-05T23:27:00Z</dcterms:created>
  <dcterms:modified xsi:type="dcterms:W3CDTF">2026-03-06T04:11:32Z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036846B7CA2D4991B6C3D8DF374242E1_12</vt:lpwstr>
  </property>
  <property fmtid="{D5CDD505-2E9C-101B-9397-08002B2CF9AE}" pid="3" name="KSOProductBuildVer">
    <vt:lpwstr>2052-12.1.0.25225</vt:lpwstr>
  </property>
</Properties>
</file>